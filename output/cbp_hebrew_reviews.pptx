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143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914400"/>
          </a:xfrm>
          <a:prstGeom prst="rect">
            <a:avLst/>
          </a:prstGeom>
          <a:noFill/>
        </p:spPr>
        <p:txBody>
          <a:bodyPr wrap="square">
            <a:spAutoFit/>
          </a:bodyPr>
          <a:lstStyle/>
          <a:p>
            <a:pPr algn="r">
              <a:rtl val="1"/>
            </a:pPr>
            <a:r>
              <a:rPr sz="4000" b="1" i="0" lang="he-IL" altLang="en-US">
                <a:solidFill>
                  <a:srgbClr val="FFFFFF"/>
                </a:solidFill>
                <a:latin typeface="Arial"/>
              </a:rPr>
              <a:t>סקירות CBP בעברית</a:t>
            </a:r>
          </a:p>
        </p:txBody>
      </p:sp>
      <p:sp>
        <p:nvSpPr>
          <p:cNvPr id="6" name="Rectangle 5"/>
          <p:cNvSpPr/>
          <p:nvPr/>
        </p:nvSpPr>
        <p:spPr>
          <a:xfrm>
            <a:off x="457200" y="2331720"/>
            <a:ext cx="8229600" cy="4572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68880"/>
            <a:ext cx="8229600" cy="548640"/>
          </a:xfrm>
          <a:prstGeom prst="rect">
            <a:avLst/>
          </a:prstGeom>
          <a:noFill/>
        </p:spPr>
        <p:txBody>
          <a:bodyPr wrap="square">
            <a:spAutoFit/>
          </a:bodyPr>
          <a:lstStyle/>
          <a:p>
            <a:pPr algn="r">
              <a:rtl val="1"/>
            </a:pPr>
            <a:r>
              <a:rPr sz="1800" b="0" i="0" lang="he-IL" altLang="en-US">
                <a:solidFill>
                  <a:srgbClr val="E94560"/>
                </a:solidFill>
                <a:latin typeface="Arial"/>
              </a:rPr>
              <a:t>תפיסות סמים, נשק, חיות ומוצרים אסורים</a:t>
            </a:r>
          </a:p>
        </p:txBody>
      </p:sp>
      <p:sp>
        <p:nvSpPr>
          <p:cNvPr id="8" name="TextBox 7"/>
          <p:cNvSpPr txBox="1"/>
          <p:nvPr/>
        </p:nvSpPr>
        <p:spPr>
          <a:xfrm>
            <a:off x="457200" y="3108960"/>
            <a:ext cx="8229600" cy="457200"/>
          </a:xfrm>
          <a:prstGeom prst="rect">
            <a:avLst/>
          </a:prstGeom>
          <a:noFill/>
        </p:spPr>
        <p:txBody>
          <a:bodyPr wrap="square">
            <a:spAutoFit/>
          </a:bodyPr>
          <a:lstStyle/>
          <a:p>
            <a:pPr algn="r">
              <a:rtl val="1"/>
            </a:pPr>
            <a:r>
              <a:rPr sz="1200" b="0" i="0" lang="he-IL" altLang="en-US">
                <a:solidFill>
                  <a:srgbClr val="888888"/>
                </a:solidFill>
                <a:latin typeface="Arial"/>
              </a:rPr>
              <a:t>עודכן: 22/04/2026   |   כתבות: 7   |   Q2-2026</a:t>
            </a:r>
          </a:p>
        </p:txBody>
      </p:sp>
      <p:sp>
        <p:nvSpPr>
          <p:cNvPr id="9" name="TextBox 8"/>
          <p:cNvSpPr txBox="1"/>
          <p:nvPr/>
        </p:nvSpPr>
        <p:spPr>
          <a:xfrm>
            <a:off x="457200" y="4663440"/>
            <a:ext cx="8229600" cy="320040"/>
          </a:xfrm>
          <a:prstGeom prst="rect">
            <a:avLst/>
          </a:prstGeom>
          <a:noFill/>
        </p:spPr>
        <p:txBody>
          <a:bodyPr wrap="square">
            <a:spAutoFit/>
          </a:bodyPr>
          <a:lstStyle/>
          <a:p>
            <a:pPr algn="r">
              <a:rtl val="1"/>
            </a:pPr>
            <a:r>
              <a:rPr sz="1000" b="0" i="0" lang="he-IL" altLang="en-US">
                <a:solidFill>
                  <a:srgbClr val="888888"/>
                </a:solidFill>
                <a:latin typeface="Arial"/>
              </a:rPr>
              <a:t>נציגות ניו יורק  |  רשות המסים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0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47488"/>
            <a:ext cx="9144000" cy="9144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7315200" cy="914400"/>
          </a:xfrm>
          <a:prstGeom prst="rect">
            <a:avLst/>
          </a:prstGeom>
          <a:noFill/>
        </p:spPr>
        <p:txBody>
          <a:bodyPr wrap="square">
            <a:spAutoFit/>
          </a:bodyPr>
          <a:lstStyle/>
          <a:p>
            <a:pPr algn="ctr"/>
            <a:r>
              <a:rPr sz="5200" b="1" i="0">
                <a:solidFill>
                  <a:srgbClr val="FFFFFF"/>
                </a:solidFill>
                <a:latin typeface="Arial"/>
              </a:rPr>
              <a:t>Q2-2026</a:t>
            </a:r>
          </a:p>
        </p:txBody>
      </p:sp>
      <p:sp>
        <p:nvSpPr>
          <p:cNvPr id="6" name="TextBox 5"/>
          <p:cNvSpPr txBox="1"/>
          <p:nvPr/>
        </p:nvSpPr>
        <p:spPr>
          <a:xfrm>
            <a:off x="914400" y="2834640"/>
            <a:ext cx="7315200" cy="548640"/>
          </a:xfrm>
          <a:prstGeom prst="rect">
            <a:avLst/>
          </a:prstGeom>
          <a:noFill/>
        </p:spPr>
        <p:txBody>
          <a:bodyPr wrap="square">
            <a:spAutoFit/>
          </a:bodyPr>
          <a:lstStyle/>
          <a:p>
            <a:pPr algn="r">
              <a:rtl val="1"/>
            </a:pPr>
            <a:r>
              <a:rPr sz="2200" b="0" i="0" lang="he-IL" altLang="en-US">
                <a:solidFill>
                  <a:srgbClr val="E94560"/>
                </a:solidFill>
                <a:latin typeface="Arial"/>
              </a:rPr>
              <a:t>אפריל – יוני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pic>
        <p:nvPicPr>
          <p:cNvPr id="5" name="Picture 4" descr="image.jpg"/>
          <p:cNvPicPr>
            <a:picLocks noChangeAspect="1"/>
          </p:cNvPicPr>
          <p:nvPr/>
        </p:nvPicPr>
        <p:blipFill>
          <a:blip r:embed="rId2"/>
          <a:stretch>
            <a:fillRect/>
          </a:stretch>
        </p:blipFill>
        <p:spPr>
          <a:xfrm>
            <a:off x="5852160" y="566928"/>
            <a:ext cx="3108960" cy="3200400"/>
          </a:xfrm>
          <a:prstGeom prst="rect">
            <a:avLst/>
          </a:prstGeom>
        </p:spPr>
      </p:pic>
      <p:sp>
        <p:nvSpPr>
          <p:cNvPr id="6" name="TextBox 5"/>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תפיסת משגר רקטות, רובים ואביזרי נשק בניסיון הברחה למקסיקו במעבר DeConcini</a:t>
            </a:r>
          </a:p>
        </p:txBody>
      </p:sp>
      <p:sp>
        <p:nvSpPr>
          <p:cNvPr id="7" name="Rectangle 6"/>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נוגאלס - DeConcini Crossing, אריזונה</a:t>
            </a:r>
          </a:p>
        </p:txBody>
      </p:sp>
      <p:sp>
        <p:nvSpPr>
          <p:cNvPr id="9" name="TextBox 8"/>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גבול יבשתי בין ארצות הברית למקסיקו. משמש לתנועת משאיות מטען, רכבים פרטיים והולכי רגל.</a:t>
            </a:r>
          </a:p>
        </p:txBody>
      </p:sp>
      <p:sp>
        <p:nvSpPr>
          <p:cNvPr id="10" name="TextBox 9"/>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ב-19 באפריל 2026 תפסו קציני CBP העוסקים במבצעי אכיפה יוצאת בנמל הכניסה נוגאלס, מעבר DeConcini שבאריזונה, כמות גדולה של נשק ואביזרים שהוסתרו בתא סמוי ברכב, שנהגה בו אזרחית אמריקאית בת 41 בעת ניסיונה לצאת מארצות הברית ולהיכנס למקסיקו.</a:t>
            </a:r>
          </a:p>
          <a:p>
            <a:pPr algn="r">
              <a:rtl val="1"/>
              <a:spcAft>
                <a:spcPts val="600"/>
              </a:spcAft>
            </a:pPr>
            <a:r>
              <a:rPr sz="950" lang="he-IL" altLang="en-US">
                <a:solidFill>
                  <a:srgbClr val="222233"/>
                </a:solidFill>
                <a:latin typeface="Arial"/>
              </a:rPr>
              <a:t>האישה נהגה ב-Lexus IS 200t משנת 2016 ואליה נלוו שלושה קטינים.</a:t>
            </a:r>
          </a:p>
          <a:p>
            <a:pPr algn="r">
              <a:rtl val="1"/>
              <a:spcAft>
                <a:spcPts val="600"/>
              </a:spcAft>
            </a:pPr>
            <a:r>
              <a:rPr sz="950" lang="he-IL" altLang="en-US">
                <a:solidFill>
                  <a:srgbClr val="222233"/>
                </a:solidFill>
                <a:latin typeface="Arial"/>
              </a:rPr>
              <a:t>הקצין הראשי בבדיקה ההתחלתית הפנה את הרכב לבדיקה משנית.</a:t>
            </a:r>
          </a:p>
          <a:p>
            <a:pPr algn="r">
              <a:rtl val="1"/>
              <a:spcAft>
                <a:spcPts val="600"/>
              </a:spcAft>
            </a:pPr>
            <a:r>
              <a:rPr sz="950" lang="he-IL" altLang="en-US">
                <a:solidFill>
                  <a:srgbClr val="222233"/>
                </a:solidFill>
                <a:latin typeface="Arial"/>
              </a:rPr>
              <a:t>סריקה בלתי פולשנית חשפה חריגה באזור המושב האחורי של הרכב.</a:t>
            </a:r>
          </a:p>
          <a:p>
            <a:pPr algn="r">
              <a:rtl val="1"/>
              <a:spcAft>
                <a:spcPts val="600"/>
              </a:spcAft>
            </a:pPr>
            <a:r>
              <a:rPr sz="950" lang="he-IL" altLang="en-US">
                <a:solidFill>
                  <a:srgbClr val="222233"/>
                </a:solidFill>
                <a:latin typeface="Arial"/>
              </a:rPr>
              <a:t>לאחר פינוי תכולת הרכב, אותר חלל מוסתר מתחת למושב האחורי, ובתוכו: צינור משגר רקטות (RPG), ארבעה רובים, אקדח AK מסוג Avtomat Kalashnikova, 16 רובי AK נוספים, 24 מחסניות לרובה, 16 קתות רובה, 20 ידיות אחיזה לאקדח, ואביזרי נשק שונים נוספים.</a:t>
            </a:r>
          </a:p>
          <a:p>
            <a:pPr algn="r">
              <a:rtl val="1"/>
              <a:spcAft>
                <a:spcPts val="600"/>
              </a:spcAft>
            </a:pPr>
            <a:r>
              <a:rPr sz="950" lang="he-IL" altLang="en-US">
                <a:solidFill>
                  <a:srgbClr val="222233"/>
                </a:solidFill>
                <a:latin typeface="Arial"/>
              </a:rPr>
              <a:t>הנשק והרכב הוחרמו.</a:t>
            </a:r>
          </a:p>
          <a:p>
            <a:pPr algn="r">
              <a:rtl val="1"/>
              <a:spcAft>
                <a:spcPts val="600"/>
              </a:spcAft>
            </a:pPr>
            <a:r>
              <a:rPr sz="950" lang="he-IL" altLang="en-US">
                <a:solidFill>
                  <a:srgbClr val="222233"/>
                </a:solidFill>
                <a:latin typeface="Arial"/>
              </a:rPr>
              <a:t>הנהגת נעצרה; התביעה הפדרלית קיבלה את התיק לטיפול, והיא הואשמה בהפרת סעיף 18 USC 554 בגין הברחת טובין מארצות הברית.</a:t>
            </a:r>
          </a:p>
          <a:p>
            <a:pPr algn="r">
              <a:rtl val="1"/>
              <a:spcAft>
                <a:spcPts val="600"/>
              </a:spcAft>
            </a:pPr>
            <a:r>
              <a:rPr sz="950" lang="he-IL" altLang="en-US">
                <a:solidFill>
                  <a:srgbClr val="222233"/>
                </a:solidFill>
                <a:latin typeface="Arial"/>
              </a:rPr>
              <a:t>שלושת הקטינים שהיו עמה שוחררו לחזקתו של בן משפחה.</a:t>
            </a:r>
          </a:p>
          <a:p>
            <a:pPr algn="r">
              <a:rtl val="1"/>
              <a:spcAft>
                <a:spcPts val="600"/>
              </a:spcAft>
            </a:pPr>
            <a:r>
              <a:rPr sz="950" lang="he-IL" altLang="en-US">
                <a:solidFill>
                  <a:srgbClr val="222233"/>
                </a:solidFill>
                <a:latin typeface="Arial"/>
              </a:rPr>
              <a:t>התיק הועבר לטיפול משרד התובע האמריקאי למחוז אריזונה בשיתוף עם Department of Homeland Security.</a:t>
            </a:r>
          </a:p>
        </p:txBody>
      </p:sp>
      <p:sp>
        <p:nvSpPr>
          <p:cNvPr id="11" name="Rectangle 10"/>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https://www.cbp.gov/newsroom/national-media-release/cbp-officers-seize-weapons-and-parts-deconcini-crossing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sp>
        <p:nvSpPr>
          <p:cNvPr id="5" name="Rectangle 4"/>
          <p:cNvSpPr/>
          <p:nvPr/>
        </p:nvSpPr>
        <p:spPr>
          <a:xfrm>
            <a:off x="5852160" y="566928"/>
            <a:ext cx="3108960" cy="320040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0" y="1920240"/>
            <a:ext cx="3108960" cy="457200"/>
          </a:xfrm>
          <a:prstGeom prst="rect">
            <a:avLst/>
          </a:prstGeom>
          <a:noFill/>
        </p:spPr>
        <p:txBody>
          <a:bodyPr wrap="square">
            <a:spAutoFit/>
          </a:bodyPr>
          <a:lstStyle/>
          <a:p>
            <a:pPr algn="ctr"/>
            <a:r>
              <a:rPr sz="1800" b="0" i="0">
                <a:solidFill>
                  <a:srgbClr val="888888"/>
                </a:solidFill>
                <a:latin typeface="Arial"/>
              </a:rPr>
              <a:t>CBP</a:t>
            </a:r>
          </a:p>
        </p:txBody>
      </p:sp>
      <p:sp>
        <p:nvSpPr>
          <p:cNvPr id="7" name="TextBox 6"/>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איתור קוף ו-125 פאונד בשר אסור על ידי מומחי החקלאות של CBP בשדה התעופה אוהר בשיקגו</a:t>
            </a:r>
          </a:p>
        </p:txBody>
      </p:sp>
      <p:sp>
        <p:nvSpPr>
          <p:cNvPr id="8" name="Rectangle 7"/>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שיקגו - O'Hare International Airport, אילינוי</a:t>
            </a:r>
          </a:p>
        </p:txBody>
      </p:sp>
      <p:sp>
        <p:nvSpPr>
          <p:cNvPr id="10" name="TextBox 9"/>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אווירי בינלאומי. משמש לבדיקת נוסעים, מזוודות ומטענים בטיסות בינלאומיות.</a:t>
            </a:r>
          </a:p>
        </p:txBody>
      </p:sp>
      <p:sp>
        <p:nvSpPr>
          <p:cNvPr id="11" name="TextBox 10"/>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ב-11 באפריל 2026 תפסו מומחי החקלאות של CBP בשדה התעופה הבינלאומי O'Hare בשיקגו שני ממצאים חריגים באירועים נפרדים.</a:t>
            </a:r>
          </a:p>
          <a:p>
            <a:pPr algn="r">
              <a:rtl val="1"/>
              <a:spcAft>
                <a:spcPts val="600"/>
              </a:spcAft>
            </a:pPr>
            <a:r>
              <a:rPr sz="950" lang="he-IL" altLang="en-US">
                <a:solidFill>
                  <a:srgbClr val="222233"/>
                </a:solidFill>
                <a:latin typeface="Arial"/>
              </a:rPr>
              <a:t>באירוע הראשון, קצין CBP הפנה נוסע שהגיע מקמרון לבדיקה חקלאית משנית.</a:t>
            </a:r>
          </a:p>
          <a:p>
            <a:pPr algn="r">
              <a:rtl val="1"/>
              <a:spcAft>
                <a:spcPts val="600"/>
              </a:spcAft>
            </a:pPr>
            <a:r>
              <a:rPr sz="950" lang="he-IL" altLang="en-US">
                <a:solidFill>
                  <a:srgbClr val="222233"/>
                </a:solidFill>
                <a:latin typeface="Arial"/>
              </a:rPr>
              <a:t>במהלך סריקת המזוודה אותרה אנומליה, ובעקבותיה בוצע חיפוש יסודי שבו גילה מומחה חקלאות של CBP גופת קוף בתוך כבודת הנוסע.</a:t>
            </a:r>
          </a:p>
          <a:p>
            <a:pPr algn="r">
              <a:rtl val="1"/>
              <a:spcAft>
                <a:spcPts val="600"/>
              </a:spcAft>
            </a:pPr>
            <a:r>
              <a:rPr sz="950" lang="he-IL" altLang="en-US">
                <a:solidFill>
                  <a:srgbClr val="222233"/>
                </a:solidFill>
                <a:latin typeface="Arial"/>
              </a:rPr>
              <a:t>בשל חשש כבד לבריאות הציבור, שרידי הקוף הוחרמו על ידי CBP והושמדו בהתאם להנחיות הסוכנויות הממשלתיות הרלוונטיות.</a:t>
            </a:r>
          </a:p>
          <a:p>
            <a:pPr algn="r">
              <a:rtl val="1"/>
              <a:spcAft>
                <a:spcPts val="600"/>
              </a:spcAft>
            </a:pPr>
            <a:r>
              <a:rPr sz="950" lang="he-IL" altLang="en-US">
                <a:solidFill>
                  <a:srgbClr val="222233"/>
                </a:solidFill>
                <a:latin typeface="Arial"/>
              </a:rPr>
              <a:t>באירוע השני, נוסע שהגיע מליבריה ניסה להבריח בשר גירה אסור באופן מכוון ומסתיר.</a:t>
            </a:r>
          </a:p>
          <a:p>
            <a:pPr algn="r">
              <a:rtl val="1"/>
              <a:spcAft>
                <a:spcPts val="600"/>
              </a:spcAft>
            </a:pPr>
            <a:r>
              <a:rPr sz="950" lang="he-IL" altLang="en-US">
                <a:solidFill>
                  <a:srgbClr val="222233"/>
                </a:solidFill>
                <a:latin typeface="Arial"/>
              </a:rPr>
              <a:t>מומחי החקלאות של CBP בדקו שמונה קופסאות שנמצאו בכבודת הנוסע וגילו בשר, עצמות ושיער שהוסתרו בתוך פירות ים מיובשים.</a:t>
            </a:r>
          </a:p>
          <a:p>
            <a:pPr algn="r">
              <a:rtl val="1"/>
              <a:spcAft>
                <a:spcPts val="600"/>
              </a:spcAft>
            </a:pPr>
            <a:r>
              <a:rPr sz="950" lang="he-IL" altLang="en-US">
                <a:solidFill>
                  <a:srgbClr val="222233"/>
                </a:solidFill>
                <a:latin typeface="Arial"/>
              </a:rPr>
              <a:t>הנוסע הודה כי הבשר המוסתר הוא בקר.</a:t>
            </a:r>
          </a:p>
          <a:p>
            <a:pPr algn="r">
              <a:rtl val="1"/>
              <a:spcAft>
                <a:spcPts val="600"/>
              </a:spcAft>
            </a:pPr>
            <a:r>
              <a:rPr sz="950" lang="he-IL" altLang="en-US">
                <a:solidFill>
                  <a:srgbClr val="222233"/>
                </a:solidFill>
                <a:latin typeface="Arial"/>
              </a:rPr>
              <a:t>בשר גירה ממדינות מסוימות בעולם אסור לייבוא לארצות הברית בשל נוכחות מחלות כגון מחלת הפרה המשוגעת (Bovine Spongiform Encephalopathy) ומחלת הפה והטלפיים (Foot and Mouth Disease).</a:t>
            </a:r>
          </a:p>
          <a:p>
            <a:pPr algn="r">
              <a:rtl val="1"/>
              <a:spcAft>
                <a:spcPts val="600"/>
              </a:spcAft>
            </a:pPr>
            <a:r>
              <a:rPr sz="950" lang="he-IL" altLang="en-US">
                <a:solidFill>
                  <a:srgbClr val="222233"/>
                </a:solidFill>
                <a:latin typeface="Arial"/>
              </a:rPr>
              <a:t>בסך הכול תפסו מומחי החקלאות של CBP מכבודת הנוסע הליברי 125 פאונד של בשר גירה אסור, פאונד אחד של עלים טריים אסורים, וארבעה סוגי זרעים אסורים המיועדים לשתילה.</a:t>
            </a:r>
          </a:p>
          <a:p>
            <a:pPr algn="r">
              <a:rtl val="1"/>
              <a:spcAft>
                <a:spcPts val="600"/>
              </a:spcAft>
            </a:pPr>
            <a:r>
              <a:rPr sz="950" lang="he-IL" altLang="en-US">
                <a:solidFill>
                  <a:srgbClr val="222233"/>
                </a:solidFill>
                <a:latin typeface="Arial"/>
              </a:rPr>
              <a:t>מנהל מחוז השטח בפועל של Chicago Field Office, Michael Pfeiffer, ציין כי מומחי החקלאות של CBP ממלאים תפקיד חיוני במניעת כניסת צמחים, מזיקים ומחלות לארצות הברית.</a:t>
            </a:r>
          </a:p>
        </p:txBody>
      </p:sp>
      <p:sp>
        <p:nvSpPr>
          <p:cNvPr id="12" name="Rectangle 11"/>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https://www.cbp.gov/newsroom/national-media-release/monkey-and-125-pounds-prohibited-meat-intercepted-agriculture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pic>
        <p:nvPicPr>
          <p:cNvPr id="5" name="Picture 4" descr="image.jpg"/>
          <p:cNvPicPr>
            <a:picLocks noChangeAspect="1"/>
          </p:cNvPicPr>
          <p:nvPr/>
        </p:nvPicPr>
        <p:blipFill>
          <a:blip r:embed="rId2"/>
          <a:stretch>
            <a:fillRect/>
          </a:stretch>
        </p:blipFill>
        <p:spPr>
          <a:xfrm>
            <a:off x="5852160" y="566928"/>
            <a:ext cx="3108960" cy="3200400"/>
          </a:xfrm>
          <a:prstGeom prst="rect">
            <a:avLst/>
          </a:prstGeom>
        </p:spPr>
      </p:pic>
      <p:sp>
        <p:nvSpPr>
          <p:cNvPr id="6" name="TextBox 5"/>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תפיסת 83 פאונד קוקאין בשווי 1.1 מיליון דולר מוסתרים בריצפת נגרר בגשר Pharr International Bridge</a:t>
            </a:r>
          </a:p>
        </p:txBody>
      </p:sp>
      <p:sp>
        <p:nvSpPr>
          <p:cNvPr id="7" name="Rectangle 6"/>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פאר - Pharr International Bridge, טקסס</a:t>
            </a:r>
          </a:p>
        </p:txBody>
      </p:sp>
      <p:sp>
        <p:nvSpPr>
          <p:cNvPr id="9" name="TextBox 8"/>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גבול יבשתי בין מקסיקו לארצות הברית. משמש בעיקר לתנועת משאיות מטען וכלי רכב מסחריים החוצים את הגבול.</a:t>
            </a:r>
          </a:p>
        </p:txBody>
      </p:sp>
      <p:sp>
        <p:nvSpPr>
          <p:cNvPr id="10" name="TextBox 9"/>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ב-15 באפריל 2026 תפסו קציני CBP במתקן המטען של Pharr International Bridge 32 חבילות קוקאין שהוסתרו בתוך ריצפת נגרר ריק, במשקל כולל של 83.24 פאונד (37.76 קילוגרם) ובשווי מוערך של 1,111,503 דולר.</a:t>
            </a:r>
          </a:p>
          <a:p>
            <a:pPr algn="r">
              <a:rtl val="1"/>
              <a:spcAft>
                <a:spcPts val="600"/>
              </a:spcAft>
            </a:pPr>
            <a:r>
              <a:rPr sz="950" lang="he-IL" altLang="en-US">
                <a:solidFill>
                  <a:srgbClr val="222233"/>
                </a:solidFill>
                <a:latin typeface="Arial"/>
              </a:rPr>
              <a:t>הנגרר הגיע ממטמורי מקסיקו, והכלי הרכב המסחרי הופנה לבדיקה משנית לאחר שסוכני CBP זיהו אותו כחשוד.</a:t>
            </a:r>
          </a:p>
          <a:p>
            <a:pPr algn="r">
              <a:rtl val="1"/>
              <a:spcAft>
                <a:spcPts val="600"/>
              </a:spcAft>
            </a:pPr>
            <a:r>
              <a:rPr sz="950" lang="he-IL" altLang="en-US">
                <a:solidFill>
                  <a:srgbClr val="222233"/>
                </a:solidFill>
                <a:latin typeface="Arial"/>
              </a:rPr>
              <a:t>הבדיקה כללה שימוש בציוד סריקה לא-חודרני וכן בדיקה של צוות כלב גילוי, ולאחריהן בוצעה בדיקה פיזית שהובילה לאיתור הסמים בתוך ריצפת הנגרר.</a:t>
            </a:r>
          </a:p>
          <a:p>
            <a:pPr algn="r">
              <a:rtl val="1"/>
              <a:spcAft>
                <a:spcPts val="600"/>
              </a:spcAft>
            </a:pPr>
            <a:r>
              <a:rPr sz="950" lang="he-IL" altLang="en-US">
                <a:solidFill>
                  <a:srgbClr val="222233"/>
                </a:solidFill>
                <a:latin typeface="Arial"/>
              </a:rPr>
              <a:t>קציני CBP החרימו את הסמים, הטרקטור והנגרר.</a:t>
            </a:r>
          </a:p>
          <a:p>
            <a:pPr algn="r">
              <a:rtl val="1"/>
              <a:spcAft>
                <a:spcPts val="600"/>
              </a:spcAft>
            </a:pPr>
            <a:r>
              <a:rPr sz="950" lang="he-IL" altLang="en-US">
                <a:solidFill>
                  <a:srgbClr val="222233"/>
                </a:solidFill>
                <a:latin typeface="Arial"/>
              </a:rPr>
              <a:t>החקירה הפלילית בעקבות האירוע הועברה לטיפול של סוכני Homeland Security Investigations.</a:t>
            </a:r>
          </a:p>
        </p:txBody>
      </p:sp>
      <p:sp>
        <p:nvSpPr>
          <p:cNvPr id="11" name="Rectangle 10"/>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https://www.cbp.gov/newsroom/national-media-release/cbp-officers-seize-more-11-million-cocaine-pharr-international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pic>
        <p:nvPicPr>
          <p:cNvPr id="5" name="Picture 4" descr="image.jpg"/>
          <p:cNvPicPr>
            <a:picLocks noChangeAspect="1"/>
          </p:cNvPicPr>
          <p:nvPr/>
        </p:nvPicPr>
        <p:blipFill>
          <a:blip r:embed="rId2"/>
          <a:stretch>
            <a:fillRect/>
          </a:stretch>
        </p:blipFill>
        <p:spPr>
          <a:xfrm>
            <a:off x="5852160" y="566928"/>
            <a:ext cx="3108960" cy="3200400"/>
          </a:xfrm>
          <a:prstGeom prst="rect">
            <a:avLst/>
          </a:prstGeom>
        </p:spPr>
      </p:pic>
      <p:sp>
        <p:nvSpPr>
          <p:cNvPr id="6" name="TextBox 5"/>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תפיסת 78 פאונד קוקאין בשווי מיליון דולר מוסתרים במושבי אוטובוס בהידלגו</a:t>
            </a:r>
          </a:p>
        </p:txBody>
      </p:sp>
      <p:sp>
        <p:nvSpPr>
          <p:cNvPr id="7" name="Rectangle 6"/>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הידלגו - Hidalgo Port of Entry, טקסס</a:t>
            </a:r>
          </a:p>
        </p:txBody>
      </p:sp>
      <p:sp>
        <p:nvSpPr>
          <p:cNvPr id="9" name="TextBox 8"/>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גבול יבשתי בין מקסיקו לארצות הברית. משמש לתנועת משאיות מטען, רכבים פרטיים והולכי רגל.</a:t>
            </a:r>
          </a:p>
        </p:txBody>
      </p:sp>
      <p:sp>
        <p:nvSpPr>
          <p:cNvPr id="10" name="TextBox 9"/>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ב-11 באפריל 2026, קציני CBP בגשר הבינלאומי Hidalgo International Bridge הפנו אוטובוס נוסעים מסחרי לבדיקה משנית.</a:t>
            </a:r>
          </a:p>
          <a:p>
            <a:pPr algn="r">
              <a:rtl val="1"/>
              <a:spcAft>
                <a:spcPts val="600"/>
              </a:spcAft>
            </a:pPr>
            <a:r>
              <a:rPr sz="950" lang="he-IL" altLang="en-US">
                <a:solidFill>
                  <a:srgbClr val="222233"/>
                </a:solidFill>
                <a:latin typeface="Arial"/>
              </a:rPr>
              <a:t>בעקבות בדיקת כלב גילוי וסריקה באמצעות מערכת בדיקה לא-פולשנית, אותרו בתוך מושבי האוטובוס 36 חבילות שהכילו קוקאין, במשקל כולל של 78 פאונד.</a:t>
            </a:r>
          </a:p>
          <a:p>
            <a:pPr algn="r">
              <a:rtl val="1"/>
              <a:spcAft>
                <a:spcPts val="600"/>
              </a:spcAft>
            </a:pPr>
            <a:r>
              <a:rPr sz="950" lang="he-IL" altLang="en-US">
                <a:solidFill>
                  <a:srgbClr val="222233"/>
                </a:solidFill>
                <a:latin typeface="Arial"/>
              </a:rPr>
              <a:t>שווי הסמים ברחוב הוערך בכ-1,042,034 דולר.</a:t>
            </a:r>
          </a:p>
          <a:p>
            <a:pPr algn="r">
              <a:rtl val="1"/>
              <a:spcAft>
                <a:spcPts val="600"/>
              </a:spcAft>
            </a:pPr>
            <a:r>
              <a:rPr sz="950" lang="he-IL" altLang="en-US">
                <a:solidFill>
                  <a:srgbClr val="222233"/>
                </a:solidFill>
                <a:latin typeface="Arial"/>
              </a:rPr>
              <a:t>קציני CBP החרימו את הסמים ואת האוטובוס.</a:t>
            </a:r>
          </a:p>
          <a:p>
            <a:pPr algn="r">
              <a:rtl val="1"/>
              <a:spcAft>
                <a:spcPts val="600"/>
              </a:spcAft>
            </a:pPr>
            <a:r>
              <a:rPr sz="950" lang="he-IL" altLang="en-US">
                <a:solidFill>
                  <a:srgbClr val="222233"/>
                </a:solidFill>
                <a:latin typeface="Arial"/>
              </a:rPr>
              <a:t>סוכני Homeland Security Investigations אחראים על המשך החקירה.</a:t>
            </a:r>
          </a:p>
          <a:p>
            <a:pPr algn="r">
              <a:rtl val="1"/>
              <a:spcAft>
                <a:spcPts val="600"/>
              </a:spcAft>
            </a:pPr>
            <a:r>
              <a:rPr sz="950" lang="he-IL" altLang="en-US">
                <a:solidFill>
                  <a:srgbClr val="222233"/>
                </a:solidFill>
                <a:latin typeface="Arial"/>
              </a:rPr>
              <a:t>מנהל נמל הכניסה, Carlos Rodriguez, ציין כי התפיסה משקפת את מחויבות CBP לאבטחת הגבול ולמניעת חדירת סמים קשים לתוך הקהילות.</a:t>
            </a:r>
          </a:p>
        </p:txBody>
      </p:sp>
      <p:sp>
        <p:nvSpPr>
          <p:cNvPr id="11" name="Rectangle 10"/>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https://www.cbp.gov/newsroom/national-media-release/cbp-officers-seize-1m-cocaine-bus-hidalgo-international-bridge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pic>
        <p:nvPicPr>
          <p:cNvPr id="5" name="Picture 4" descr="image.jpg"/>
          <p:cNvPicPr>
            <a:picLocks noChangeAspect="1"/>
          </p:cNvPicPr>
          <p:nvPr/>
        </p:nvPicPr>
        <p:blipFill>
          <a:blip r:embed="rId2"/>
          <a:stretch>
            <a:fillRect/>
          </a:stretch>
        </p:blipFill>
        <p:spPr>
          <a:xfrm>
            <a:off x="5852160" y="566928"/>
            <a:ext cx="3108960" cy="3200400"/>
          </a:xfrm>
          <a:prstGeom prst="rect">
            <a:avLst/>
          </a:prstGeom>
        </p:spPr>
      </p:pic>
      <p:sp>
        <p:nvSpPr>
          <p:cNvPr id="6" name="TextBox 5"/>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תפיסת למעלה מ-60 פאונד קוקאין בשווי 1.15 מיליון דולר מנוסע מהימן בנמל סן יסידרו</a:t>
            </a:r>
          </a:p>
        </p:txBody>
      </p:sp>
      <p:sp>
        <p:nvSpPr>
          <p:cNvPr id="7" name="Rectangle 6"/>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סן יסידרו - San Ysidro Port of Entry, קליפורניה</a:t>
            </a:r>
          </a:p>
        </p:txBody>
      </p:sp>
      <p:sp>
        <p:nvSpPr>
          <p:cNvPr id="9" name="TextBox 8"/>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גבול יבשתי בין מקסיקו לארצות הברית. משמש לתנועת משאיות מטען, רכבים פרטיים והולכי רגל.</a:t>
            </a:r>
          </a:p>
        </p:txBody>
      </p:sp>
      <p:sp>
        <p:nvSpPr>
          <p:cNvPr id="10" name="TextBox 9"/>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קציני CBP בנמל הכניסה סן יסידרו תפסו 60.14 פאונד קוקאין שהוסתרו בתוך דלתות רכבו של נוסע הרשום בתוכנית Secure Electronic Network for Travelers Rapid Inspection.</a:t>
            </a:r>
          </a:p>
          <a:p>
            <a:pPr algn="r">
              <a:rtl val="1"/>
              <a:spcAft>
                <a:spcPts val="600"/>
              </a:spcAft>
            </a:pPr>
            <a:r>
              <a:rPr sz="950" lang="he-IL" altLang="en-US">
                <a:solidFill>
                  <a:srgbClr val="222233"/>
                </a:solidFill>
                <a:latin typeface="Arial"/>
              </a:rPr>
              <a:t>קצינים הפנו לבדיקה משנית גבר בן 25, אזרח אמריקאי, שנהג ב-Honda Civic משנת 2020.</a:t>
            </a:r>
          </a:p>
          <a:p>
            <a:pPr algn="r">
              <a:rtl val="1"/>
              <a:spcAft>
                <a:spcPts val="600"/>
              </a:spcAft>
            </a:pPr>
            <a:r>
              <a:rPr sz="950" lang="he-IL" altLang="en-US">
                <a:solidFill>
                  <a:srgbClr val="222233"/>
                </a:solidFill>
                <a:latin typeface="Arial"/>
              </a:rPr>
              <a:t>במהלך הבדיקה המשנית, טכנולוגיית סריקה בלתי פולשנית חשפה חריגות בדלתות הרכב, וצוות כלבי הגילוי של CBP התריע על נוכחות סמים.</a:t>
            </a:r>
          </a:p>
          <a:p>
            <a:pPr algn="r">
              <a:rtl val="1"/>
              <a:spcAft>
                <a:spcPts val="600"/>
              </a:spcAft>
            </a:pPr>
            <a:r>
              <a:rPr sz="950" lang="he-IL" altLang="en-US">
                <a:solidFill>
                  <a:srgbClr val="222233"/>
                </a:solidFill>
                <a:latin typeface="Arial"/>
              </a:rPr>
              <a:t>בדיקה פיזית העלתה כי בתוך דלתות הרכב הוסתרו 20 חבילות קוקאין במשקל כולל של 60.14 פאונד, בשווי מוערך של למעלה מ-1.15 מיליון דולר.</a:t>
            </a:r>
          </a:p>
          <a:p>
            <a:pPr algn="r">
              <a:rtl val="1"/>
              <a:spcAft>
                <a:spcPts val="600"/>
              </a:spcAft>
            </a:pPr>
            <a:r>
              <a:rPr sz="950" lang="he-IL" altLang="en-US">
                <a:solidFill>
                  <a:srgbClr val="222233"/>
                </a:solidFill>
                <a:latin typeface="Arial"/>
              </a:rPr>
              <a:t>קציני CBP הוחרמו הסמים, הרכב ושני טלפונים סלולריים.</a:t>
            </a:r>
          </a:p>
          <a:p>
            <a:pPr algn="r">
              <a:rtl val="1"/>
              <a:spcAft>
                <a:spcPts val="600"/>
              </a:spcAft>
            </a:pPr>
            <a:r>
              <a:rPr sz="950" lang="he-IL" altLang="en-US">
                <a:solidFill>
                  <a:srgbClr val="222233"/>
                </a:solidFill>
                <a:latin typeface="Arial"/>
              </a:rPr>
              <a:t>הנהג נעצר ועומד בפני העמדה לדין פדרלי בגין ייבוא וסחר בסמים.</a:t>
            </a:r>
          </a:p>
        </p:txBody>
      </p:sp>
      <p:sp>
        <p:nvSpPr>
          <p:cNvPr id="11" name="Rectangle 10"/>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https://www.cbp.gov/newsroom/national-media-release/trust-verify-cbp-officers-seize-over-11-million-cocaine-trusted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pic>
        <p:nvPicPr>
          <p:cNvPr id="5" name="Picture 4" descr="image.jpg"/>
          <p:cNvPicPr>
            <a:picLocks noChangeAspect="1"/>
          </p:cNvPicPr>
          <p:nvPr/>
        </p:nvPicPr>
        <p:blipFill>
          <a:blip r:embed="rId2"/>
          <a:stretch>
            <a:fillRect/>
          </a:stretch>
        </p:blipFill>
        <p:spPr>
          <a:xfrm>
            <a:off x="5852160" y="566928"/>
            <a:ext cx="3108960" cy="3200400"/>
          </a:xfrm>
          <a:prstGeom prst="rect">
            <a:avLst/>
          </a:prstGeom>
        </p:spPr>
      </p:pic>
      <p:sp>
        <p:nvSpPr>
          <p:cNvPr id="6" name="TextBox 5"/>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תפיסת למעלה מ-430 פאונד קוקאין ומתאמפטמין בשווי 2.8 מיליון דולר בנמל אוטאי מסה בשתי פעולות אכיפה נפרדות</a:t>
            </a:r>
          </a:p>
        </p:txBody>
      </p:sp>
      <p:sp>
        <p:nvSpPr>
          <p:cNvPr id="7" name="Rectangle 6"/>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אוטאי מסה - Otay Mesa Port of Entry, קליפורניה</a:t>
            </a:r>
          </a:p>
        </p:txBody>
      </p:sp>
      <p:sp>
        <p:nvSpPr>
          <p:cNvPr id="9" name="TextBox 8"/>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גבול יבשתי בין מקסיקו לארצות הברית. משמש לתנועת משאיות מטען, רכבים פרטיים והולכי רגל.</a:t>
            </a:r>
          </a:p>
        </p:txBody>
      </p:sp>
      <p:sp>
        <p:nvSpPr>
          <p:cNvPr id="10" name="TextBox 9"/>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קציני CBP בנמל הכניסה Otay Mesa תפסו למעלה מ-430 פאונד של קוקאין ומתאמפטמין בשתי פעולות אכיפה נפרדות שהתרחשו ב-7 וב-8 באפריל 2026.</a:t>
            </a:r>
          </a:p>
          <a:p>
            <a:pPr algn="r">
              <a:rtl val="1"/>
              <a:spcAft>
                <a:spcPts val="600"/>
              </a:spcAft>
            </a:pPr>
            <a:r>
              <a:rPr sz="950" lang="he-IL" altLang="en-US">
                <a:solidFill>
                  <a:srgbClr val="222233"/>
                </a:solidFill>
                <a:latin typeface="Arial"/>
              </a:rPr>
              <a:t>בפעולה הראשונה, ב-7 באפריל, הופנה לבדיקה משנית גבר מקסיקני בן 51 שנהג ברכב Toyota Prius.</a:t>
            </a:r>
          </a:p>
          <a:p>
            <a:pPr algn="r">
              <a:rtl val="1"/>
              <a:spcAft>
                <a:spcPts val="600"/>
              </a:spcAft>
            </a:pPr>
            <a:r>
              <a:rPr sz="950" lang="he-IL" altLang="en-US">
                <a:solidFill>
                  <a:srgbClr val="222233"/>
                </a:solidFill>
                <a:latin typeface="Arial"/>
              </a:rPr>
              <a:t>צוות כלבי הגילוי של CBP התריע על הרכב, ובחיפוש פיזי אותרו 44 חבילות קוקאין שהוסתרו בתוך דלתות הרכב, המושב האחורי ולוחות הדופן האחוריים.</a:t>
            </a:r>
          </a:p>
          <a:p>
            <a:pPr algn="r">
              <a:rtl val="1"/>
              <a:spcAft>
                <a:spcPts val="600"/>
              </a:spcAft>
            </a:pPr>
            <a:r>
              <a:rPr sz="950" lang="he-IL" altLang="en-US">
                <a:solidFill>
                  <a:srgbClr val="222233"/>
                </a:solidFill>
                <a:latin typeface="Arial"/>
              </a:rPr>
              <a:t>משקל הקוקאין עמד על כ-124 פאונד, ושוויו המוערך הגיע לכ-2.4 מיליון דולר.</a:t>
            </a:r>
          </a:p>
          <a:p>
            <a:pPr algn="r">
              <a:rtl val="1"/>
              <a:spcAft>
                <a:spcPts val="600"/>
              </a:spcAft>
            </a:pPr>
            <a:r>
              <a:rPr sz="950" lang="he-IL" altLang="en-US">
                <a:solidFill>
                  <a:srgbClr val="222233"/>
                </a:solidFill>
                <a:latin typeface="Arial"/>
              </a:rPr>
              <a:t>ביום שלמחרת, ב-8 באפריל, הופנה לבדיקה משנית גבר אזרח אמריקאי בן 21 שנהג ברכב Nissan Frontier, אשר השתתף בתוכנית Secure Electronic Network for Travelers Rapid Inspection.</a:t>
            </a:r>
          </a:p>
          <a:p>
            <a:pPr algn="r">
              <a:rtl val="1"/>
              <a:spcAft>
                <a:spcPts val="600"/>
              </a:spcAft>
            </a:pPr>
            <a:r>
              <a:rPr sz="950" lang="he-IL" altLang="en-US">
                <a:solidFill>
                  <a:srgbClr val="222233"/>
                </a:solidFill>
                <a:latin typeface="Arial"/>
              </a:rPr>
              <a:t>סריקה באמצעות מערכת הדמיה וצוות כלבי הגילוי של CBP התריעו על תא שאינו מקורי שאותר בתא המטען של הרכב.</a:t>
            </a:r>
          </a:p>
          <a:p>
            <a:pPr algn="r">
              <a:rtl val="1"/>
              <a:spcAft>
                <a:spcPts val="600"/>
              </a:spcAft>
            </a:pPr>
            <a:r>
              <a:rPr sz="950" lang="he-IL" altLang="en-US">
                <a:solidFill>
                  <a:srgbClr val="222233"/>
                </a:solidFill>
                <a:latin typeface="Arial"/>
              </a:rPr>
              <a:t>בחיפוש גילו הקצינים 25 חבילות ובהן כ-307 פאונד מתאמפטמין, בשווי מוערך של כ-491,200 דולר.</a:t>
            </a:r>
          </a:p>
          <a:p>
            <a:pPr algn="r">
              <a:rtl val="1"/>
              <a:spcAft>
                <a:spcPts val="600"/>
              </a:spcAft>
            </a:pPr>
            <a:r>
              <a:rPr sz="950" lang="he-IL" altLang="en-US">
                <a:solidFill>
                  <a:srgbClr val="222233"/>
                </a:solidFill>
                <a:latin typeface="Arial"/>
              </a:rPr>
              <a:t>שני הרכבים הוחרמו, שני הנהגים נעצרו ועל שניהם צפוי להיות מוגש כתב אישום פדרלי.</a:t>
            </a:r>
          </a:p>
          <a:p>
            <a:pPr algn="r">
              <a:rtl val="1"/>
              <a:spcAft>
                <a:spcPts val="600"/>
              </a:spcAft>
            </a:pPr>
            <a:r>
              <a:rPr sz="950" lang="he-IL" altLang="en-US">
                <a:solidFill>
                  <a:srgbClr val="222233"/>
                </a:solidFill>
                <a:latin typeface="Arial"/>
              </a:rPr>
              <a:t>השווי המשולב המוערך של כלל הסמים שנתפסו בשתי הפעולות עומד על כ-2.8 מיליון דולר.</a:t>
            </a:r>
          </a:p>
        </p:txBody>
      </p:sp>
      <p:sp>
        <p:nvSpPr>
          <p:cNvPr id="11" name="Rectangle 10"/>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https://www.cbp.gov/newsroom/national-media-release/cbp-officers-seize-over-28-million-hard-narcotics-otay-mesa-port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73152"/>
            <a:ext cx="8778240" cy="347472"/>
          </a:xfrm>
          <a:prstGeom prst="rect">
            <a:avLst/>
          </a:prstGeom>
          <a:noFill/>
        </p:spPr>
        <p:txBody>
          <a:bodyPr wrap="square">
            <a:spAutoFit/>
          </a:bodyPr>
          <a:lstStyle/>
          <a:p>
            <a:pPr algn="l"/>
            <a:r>
              <a:rPr sz="900" b="0" i="0">
                <a:solidFill>
                  <a:srgbClr val="888888"/>
                </a:solidFill>
                <a:latin typeface="Arial"/>
              </a:rPr>
              <a:t>2026-04-22   |   Q2-2026</a:t>
            </a:r>
          </a:p>
        </p:txBody>
      </p:sp>
      <p:pic>
        <p:nvPicPr>
          <p:cNvPr id="5" name="Picture 4" descr="image.jpg"/>
          <p:cNvPicPr>
            <a:picLocks noChangeAspect="1"/>
          </p:cNvPicPr>
          <p:nvPr/>
        </p:nvPicPr>
        <p:blipFill>
          <a:blip r:embed="rId2"/>
          <a:stretch>
            <a:fillRect/>
          </a:stretch>
        </p:blipFill>
        <p:spPr>
          <a:xfrm>
            <a:off x="5852160" y="566928"/>
            <a:ext cx="3108960" cy="3200400"/>
          </a:xfrm>
          <a:prstGeom prst="rect">
            <a:avLst/>
          </a:prstGeom>
        </p:spPr>
      </p:pic>
      <p:sp>
        <p:nvSpPr>
          <p:cNvPr id="6" name="TextBox 5"/>
          <p:cNvSpPr txBox="1"/>
          <p:nvPr/>
        </p:nvSpPr>
        <p:spPr>
          <a:xfrm>
            <a:off x="228600" y="566928"/>
            <a:ext cx="5394960" cy="960120"/>
          </a:xfrm>
          <a:prstGeom prst="rect">
            <a:avLst/>
          </a:prstGeom>
          <a:noFill/>
        </p:spPr>
        <p:txBody>
          <a:bodyPr wrap="square">
            <a:spAutoFit/>
          </a:bodyPr>
          <a:lstStyle/>
          <a:p>
            <a:pPr algn="r">
              <a:rtl val="1"/>
            </a:pPr>
            <a:r>
              <a:rPr sz="1500" b="1" i="0" lang="he-IL" altLang="en-US">
                <a:solidFill>
                  <a:srgbClr val="1A1A2E"/>
                </a:solidFill>
                <a:latin typeface="Arial"/>
              </a:rPr>
              <a:t>תפיסת 45.37 פאונד קוקאין בשווי 605,000 דולר ברכב נוסעים בגשר פאר הבינלאומי</a:t>
            </a:r>
          </a:p>
        </p:txBody>
      </p:sp>
      <p:sp>
        <p:nvSpPr>
          <p:cNvPr id="7" name="Rectangle 6"/>
          <p:cNvSpPr/>
          <p:nvPr/>
        </p:nvSpPr>
        <p:spPr>
          <a:xfrm>
            <a:off x="228600" y="1572768"/>
            <a:ext cx="5394960" cy="2286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627632"/>
            <a:ext cx="5394960" cy="347472"/>
          </a:xfrm>
          <a:prstGeom prst="rect">
            <a:avLst/>
          </a:prstGeom>
          <a:noFill/>
        </p:spPr>
        <p:txBody>
          <a:bodyPr wrap="square">
            <a:spAutoFit/>
          </a:bodyPr>
          <a:lstStyle/>
          <a:p>
            <a:pPr algn="r">
              <a:rtl val="1"/>
            </a:pPr>
            <a:r>
              <a:rPr sz="1000" b="1" i="0" lang="he-IL" altLang="en-US">
                <a:solidFill>
                  <a:srgbClr val="E94560"/>
                </a:solidFill>
                <a:latin typeface="Arial"/>
              </a:rPr>
              <a:t>נמל הכניסה הידלגו - Hidalgo Port of Entry, טקסס</a:t>
            </a:r>
          </a:p>
        </p:txBody>
      </p:sp>
      <p:sp>
        <p:nvSpPr>
          <p:cNvPr id="9" name="TextBox 8"/>
          <p:cNvSpPr txBox="1"/>
          <p:nvPr/>
        </p:nvSpPr>
        <p:spPr>
          <a:xfrm>
            <a:off x="228600" y="1993392"/>
            <a:ext cx="5394960" cy="320040"/>
          </a:xfrm>
          <a:prstGeom prst="rect">
            <a:avLst/>
          </a:prstGeom>
          <a:noFill/>
        </p:spPr>
        <p:txBody>
          <a:bodyPr wrap="square">
            <a:spAutoFit/>
          </a:bodyPr>
          <a:lstStyle/>
          <a:p>
            <a:pPr algn="r">
              <a:rtl val="1"/>
            </a:pPr>
            <a:r>
              <a:rPr sz="900" b="0" i="1" lang="he-IL" altLang="en-US">
                <a:solidFill>
                  <a:srgbClr val="4C5FD5"/>
                </a:solidFill>
                <a:latin typeface="Arial"/>
              </a:rPr>
              <a:t>סוג מעבר: מעבר גבול יבשתי בין מקסיקו לארצות הברית. משמש לתנועת משאיות מטען, רכבים פרטיים והולכי רגל.</a:t>
            </a:r>
          </a:p>
        </p:txBody>
      </p:sp>
      <p:sp>
        <p:nvSpPr>
          <p:cNvPr id="10" name="TextBox 9"/>
          <p:cNvSpPr txBox="1"/>
          <p:nvPr/>
        </p:nvSpPr>
        <p:spPr>
          <a:xfrm>
            <a:off x="228600" y="2359152"/>
            <a:ext cx="5394960" cy="2560320"/>
          </a:xfrm>
          <a:prstGeom prst="rect">
            <a:avLst/>
          </a:prstGeom>
          <a:noFill/>
        </p:spPr>
        <p:txBody>
          <a:bodyPr wrap="square">
            <a:spAutoFit/>
          </a:bodyPr>
          <a:lstStyle/>
          <a:p>
            <a:pPr algn="r">
              <a:rtl val="1"/>
              <a:spcAft>
                <a:spcPts val="600"/>
              </a:spcAft>
            </a:pPr>
            <a:r>
              <a:rPr sz="950" lang="he-IL" altLang="en-US">
                <a:solidFill>
                  <a:srgbClr val="222233"/>
                </a:solidFill>
                <a:latin typeface="Arial"/>
              </a:rPr>
              <a:t>ב-6 באפריל 2026 תפסו קציני CBP בגשר פאר הבינלאומי (Pharr International Bridge) 45.37 פאונד קוקאין שהוסתרו בתוך רכב נוסעים מסוג Chrysler 200.</a:t>
            </a:r>
          </a:p>
          <a:p>
            <a:pPr algn="r">
              <a:rtl val="1"/>
              <a:spcAft>
                <a:spcPts val="600"/>
              </a:spcAft>
            </a:pPr>
            <a:r>
              <a:rPr sz="950" lang="he-IL" altLang="en-US">
                <a:solidFill>
                  <a:srgbClr val="222233"/>
                </a:solidFill>
                <a:latin typeface="Arial"/>
              </a:rPr>
              <a:t>הרכב הופנה לבדיקה משנית על ידי קצין CBP, ובעקבות בדיקת כלב גילוי וסריקה באמצעות מערכת בדיקה לא-פולשנית, אותרו ברכב 19 חבילות ובהן הסם החשוד.</a:t>
            </a:r>
          </a:p>
          <a:p>
            <a:pPr algn="r">
              <a:rtl val="1"/>
              <a:spcAft>
                <a:spcPts val="600"/>
              </a:spcAft>
            </a:pPr>
            <a:r>
              <a:rPr sz="950" lang="he-IL" altLang="en-US">
                <a:solidFill>
                  <a:srgbClr val="222233"/>
                </a:solidFill>
                <a:latin typeface="Arial"/>
              </a:rPr>
              <a:t>שווי הרחוב המוערך של הסמים עומד על 605,792 דולר.</a:t>
            </a:r>
          </a:p>
          <a:p>
            <a:pPr algn="r">
              <a:rtl val="1"/>
              <a:spcAft>
                <a:spcPts val="600"/>
              </a:spcAft>
            </a:pPr>
            <a:r>
              <a:rPr sz="950" lang="he-IL" altLang="en-US">
                <a:solidFill>
                  <a:srgbClr val="222233"/>
                </a:solidFill>
                <a:latin typeface="Arial"/>
              </a:rPr>
              <a:t>הסמים הוחרמו על ידי CBP, והתיק הועבר לחקירה של סוכני Homeland Security Investigations.</a:t>
            </a:r>
          </a:p>
          <a:p>
            <a:pPr algn="r">
              <a:rtl val="1"/>
              <a:spcAft>
                <a:spcPts val="600"/>
              </a:spcAft>
            </a:pPr>
            <a:r>
              <a:rPr sz="950" lang="he-IL" altLang="en-US">
                <a:solidFill>
                  <a:srgbClr val="222233"/>
                </a:solidFill>
                <a:latin typeface="Arial"/>
              </a:rPr>
              <a:t>מנהל הנמל קרלוס רודריגז ציין כי התפיסה משקפת את מחויבות הקצינים למשימת אבטחת הגבול ואת השימוש האפקטיבי בטכנולוגיה ובכישורי הבדיקה.</a:t>
            </a:r>
          </a:p>
        </p:txBody>
      </p:sp>
      <p:sp>
        <p:nvSpPr>
          <p:cNvPr id="11" name="Rectangle 10"/>
          <p:cNvSpPr/>
          <p:nvPr/>
        </p:nvSpPr>
        <p:spPr>
          <a:xfrm>
            <a:off x="0" y="4828032"/>
            <a:ext cx="9144000" cy="315468"/>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4846320"/>
            <a:ext cx="8778240" cy="256032"/>
          </a:xfrm>
          <a:prstGeom prst="rect">
            <a:avLst/>
          </a:prstGeom>
          <a:noFill/>
        </p:spPr>
        <p:txBody>
          <a:bodyPr wrap="square">
            <a:spAutoFit/>
          </a:bodyPr>
          <a:lstStyle/>
          <a:p>
            <a:pPr algn="l"/>
            <a:r>
              <a:rPr sz="700" b="0" i="0">
                <a:solidFill>
                  <a:srgbClr val="888888"/>
                </a:solidFill>
                <a:latin typeface="Arial"/>
              </a:rPr>
              <a:t>מקור: https://www.cbp.gov/newsroom/national-media-release/cbp-officers-seize-605k-cocaine-pharr-international-bridge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